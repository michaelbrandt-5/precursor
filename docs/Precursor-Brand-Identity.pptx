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5603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371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pPr indent="0" marL="0">
              <a:buNone/>
            </a:pPr>
            <a:r>
              <a:rPr lang="en-US" sz="7200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0292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-- Executive Review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37760" y="54864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74%</a:t>
            </a:r>
            <a:endParaRPr lang="en-US" sz="17500" dirty="0"/>
          </a:p>
        </p:txBody>
      </p:sp>
      <p:sp>
        <p:nvSpPr>
          <p:cNvPr id="9" name="Text 6"/>
          <p:cNvSpPr/>
          <p:nvPr/>
        </p:nvSpPr>
        <p:spPr>
          <a:xfrm>
            <a:off x="5303520" y="4462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SCORE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282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Exposure Index and who it's for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Inspiration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aesthetic reference points guiding the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Direction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922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across four palettes, down to Cobalt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Concepts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7282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mark directions developed from scratch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Deep Dive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explorations of the three strongest concepts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114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03520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922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 and what comes next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371600"/>
            <a:ext cx="0" cy="338328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Exposure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Index™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professionals face growing uncertainty about how artificial intelligence will affect their careers.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2918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90672"/>
            <a:ext cx="54864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capability modeling of 200+ professions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54864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Score™ from 0-100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95344"/>
            <a:ext cx="54864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877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Instagram, TikTok, YouTube &amp; LinkedIn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54864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research platform for professionals 30-50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502920"/>
            <a:ext cx="40233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04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Score™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D4E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2633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core capabilities are exposed to automation or augmentation by current AI systems.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246120"/>
            <a:ext cx="3474720" cy="365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937760" y="3429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937760" y="3611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3429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720840" y="3611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937760" y="3867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7760" y="4050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20840" y="3867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720840" y="4050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INSPIRATION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aesthetic reference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572768" cy="333756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1572768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Muji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BRANDING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29844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5915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through restraint. No logo as statement.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1325880"/>
            <a:ext cx="1572768" cy="333756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325880"/>
            <a:ext cx="1572768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508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Everlane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8840" y="1901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148840" y="2240280"/>
            <a:ext cx="129844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35915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photography, direct copy, nothing hidden.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1325880"/>
            <a:ext cx="1572768" cy="333756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325880"/>
            <a:ext cx="1572768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08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1901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TEXT-HEAVY, CLINICAL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86200" y="2240280"/>
            <a:ext cx="129844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35915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 and precise. No lifestyle imagery.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325880"/>
            <a:ext cx="1572768" cy="333756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325880"/>
            <a:ext cx="1572768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508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1901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BRUTALLY SIMPLE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623560" y="2240280"/>
            <a:ext cx="129844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35915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white. Developer-focused. Pure function.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1325880"/>
            <a:ext cx="1572768" cy="333756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325880"/>
            <a:ext cx="1572768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5087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60920" y="19019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POLISHED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60920" y="2240280"/>
            <a:ext cx="1298448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2359152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without flash. Trusts the product.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confidence without decoration. Design that trusts the substance.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principles.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23774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is not empty -- it is the message. Every element earns its place. Nothing is decorative.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383280" y="2514600"/>
            <a:ext cx="23774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is tight. Spacing is consistent. Data is the hero. The design steps back.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Credible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63640" y="2514600"/>
            <a:ext cx="23774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517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aesthetic signals rigor. Not a startup. Not a tool. A research institution.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EXPLORATION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directions considered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01952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743200"/>
            <a:ext cx="1901952" cy="192024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Cobalt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" y="3218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DATA · PRECISION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5488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and research-forward. Performs at all sizes.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01952" cy="13716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743200"/>
            <a:ext cx="1901952" cy="192024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Indigo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24328" y="3218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· INSTITUTION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24328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scholarly. Darker and more contemplative than Cobalt.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01952" cy="13716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43200"/>
            <a:ext cx="1901952" cy="192024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73168" y="3218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· EDITORIAL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and immediate. Strong on dark backgrounds.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019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743200"/>
            <a:ext cx="1901952" cy="1920240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22008" y="3218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GROWTH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22008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and measured. Suggests adaptation, not disruption.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Cobalt.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risk. Highest legibility.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association with data,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and research authority.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light, dark, and cobalt backgrounds.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from 16px favicon to 200px display.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without being trendy.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411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914400" cy="51206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859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#0A0A0A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481328"/>
            <a:ext cx="914400" cy="5120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179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#1D4ED8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139696"/>
            <a:ext cx="914400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Mid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798064"/>
            <a:ext cx="914400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34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Light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054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#DBEAFE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456432"/>
            <a:ext cx="91440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493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Pale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712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#EFF6FF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4114800"/>
            <a:ext cx="914400" cy="512064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151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370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#F7F6F4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8646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CONCEPTS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directions developed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44752"/>
            <a:ext cx="347472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Cursor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171907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"cursor" hides inside the brand name. A typographic I-beam -- the most precise mark.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444752"/>
            <a:ext cx="347472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Precede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023360" y="171907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chevrons pointing forward. Precursor-as-signal. Strong in code conventions.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444752"/>
            <a:ext cx="347472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444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Index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903720" y="171907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ascending bars mirror the AI Exposure Score. A direct visual metaphor.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64992"/>
            <a:ext cx="347472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Signal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43000" y="363931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with centered dot. Precision measurement before an event.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33756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364992"/>
            <a:ext cx="347472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336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Bracket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023360" y="363931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frame an index entry. Structured, data-native.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217920" y="31089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364992"/>
            <a:ext cx="347472" cy="4754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364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P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903720" y="363931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open-bowl P monogram built from right angles only.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 selected for deep-dive exploration 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804672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004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lives inside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name.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text-insertion mark 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comes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input, before action.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5468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54680" y="7498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Classic I-beam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05840"/>
            <a:ext cx="25603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1024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serifs top and bottom. Typographic and precise. The recommended primary mark.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54680" y="1572768"/>
            <a:ext cx="5669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54680" y="1719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Horizontal Lockup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75104"/>
            <a:ext cx="201168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Precursor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456432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154680" y="2651760"/>
            <a:ext cx="5669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154680" y="27980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Dark Application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154680" y="3063240"/>
            <a:ext cx="4389120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163824"/>
            <a:ext cx="164592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84448" y="3127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Precursor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3154680" y="3858768"/>
            <a:ext cx="566928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154680" y="40050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Scale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251960"/>
            <a:ext cx="93878" cy="128016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4251960"/>
            <a:ext cx="134112" cy="182880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251960"/>
            <a:ext cx="187757" cy="256032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4251960"/>
            <a:ext cx="268224" cy="36576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648" y="4251960"/>
            <a:ext cx="375514" cy="51206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154680" y="486460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1243584" cy="95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1546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angle brackets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forward.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code, &gt;&gt; means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'output' -- a leading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29000" y="347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29000" y="7498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Standard Double Chevron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87552"/>
            <a:ext cx="493776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open stroke chevrons. Square line caps for geometric precision.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29000" y="1517904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16642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Horizontal Lockup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920240"/>
            <a:ext cx="40233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3632" y="18836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Precursor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913632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429000" y="2633472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429000" y="27797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On Cobalt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429000" y="3035808"/>
            <a:ext cx="438912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3127248"/>
            <a:ext cx="347472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41648" y="3090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Precursor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3429000" y="3840480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429000" y="3986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vs Double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42900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is recommended -- single chevron reads as a generic arrow. The double angle bracket is a code convention with specific meaning.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429000" y="486460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Pre/cursor Split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splits at its etymology: pre (before) + cursor (the runner, the signal). No external icon needed.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60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Color Split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pPr indent="0" marL="0">
              <a:buNone/>
            </a:pPr>
            <a:r>
              <a:rPr lang="en-US" sz="4000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39776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00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Weight Contrast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pPr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937760" y="2633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60520" cy="1481328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10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Serif Italic Cursor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572768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0080" y="4279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3182112"/>
            <a:ext cx="397764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Underline Accent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0" y="35478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pPr indent="0" marL="0">
              <a:buNone/>
            </a:pPr>
            <a:r>
              <a:rPr lang="en-US" sz="4000" u="sng" dirty="0">
                <a:solidFill>
                  <a:srgbClr val="0A0A0A"/>
                </a:solidFill>
                <a:uFill>
                  <a:solidFill>
                    <a:srgbClr val="1D4ED8"/>
                  </a:solidFill>
                </a:u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937760" y="4279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Index™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1024128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08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0817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-- Cobalt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007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risk, highest legibility. Associates the brand with data, trust, and research authority. Works at all sizes and on all backgrounds. No further validation needed -- move forward.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024128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-- The Cursor (01) or Precede (02)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8712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strong. The Cursor is subtler and more conceptually tight -- the word cursor is literally in the name. The Precede is more immediately directional. Recommend a live test with both at nav scale before committing.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8229600" cy="1024128"/>
          </a:xfrm>
          <a:prstGeom prst="rect">
            <a:avLst/>
          </a:prstGeom>
          <a:solidFill>
            <a:srgbClr val="F7F6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39312"/>
            <a:ext cx="54864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-- Pre/cursor Split (V1 or V3)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41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mark is used, V1 (color split) is the clean choice for any context. V3 (serif italic cursor) is the most distinctive and editorial -- ideal for premium placements, press, and the platform header.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· AI Exposure Index™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concept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identity.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22128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vs. Precede -- test both at 16px favicon and nav scale with real screens.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8229600" cy="0"/>
          </a:xfrm>
          <a:prstGeom prst="line">
            <a:avLst/>
          </a:prstGeom>
          <a:noFill/>
          <a:ln w="381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wordmark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7614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wordmark-only and mark+wordmark. Confirm the Pre/cursor split treatment.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8229600" cy="0"/>
          </a:xfrm>
          <a:prstGeom prst="line">
            <a:avLst/>
          </a:prstGeom>
          <a:noFill/>
          <a:ln w="381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310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two-typeface system (Georgia + Calibri/Inter) with a defined scale and usage rules.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8229600" cy="0"/>
          </a:xfrm>
          <a:prstGeom prst="line">
            <a:avLst/>
          </a:prstGeom>
          <a:noFill/>
          <a:ln w="381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58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product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858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chosen identity across the platform, social templates, and the score card format.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8229600" cy="0"/>
          </a:xfrm>
          <a:prstGeom prst="line">
            <a:avLst/>
          </a:prstGeom>
          <a:noFill/>
          <a:ln w="381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074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407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4074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full system: colours, marks, do/don'ts, and social card specs.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617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</a:t>
            </a:r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Precursor -- Brand Identity</dc:title>
  <dc:subject>PptxGenJS Presentation</dc:subject>
  <dc:creator>Precursor</dc:creator>
  <cp:lastModifiedBy>Precursor</cp:lastModifiedBy>
  <cp:revision>1</cp:revision>
  <dcterms:created xsi:type="dcterms:W3CDTF">2026-04-04T15:36:47Z</dcterms:created>
  <dcterms:modified xsi:type="dcterms:W3CDTF">2026-04-04T15:36:47Z</dcterms:modified>
</cp:coreProperties>
</file>